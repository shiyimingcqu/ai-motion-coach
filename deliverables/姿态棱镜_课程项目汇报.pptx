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76FD"/>
    <a:srgbClr val="5504CC"/>
    <a:srgbClr val="D8DDFE"/>
    <a:srgbClr val="A2B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1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38b2dd0fea680c4f870aa5bca3095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17" y="109728"/>
            <a:ext cx="1715040" cy="1715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26730" y="2114308"/>
            <a:ext cx="349454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1" dirty="0" err="1">
                <a:solidFill>
                  <a:srgbClr val="5504CC"/>
                </a:solidFill>
                <a:latin typeface="Microsoft YaHei"/>
              </a:rPr>
              <a:t>姿态棱镜</a:t>
            </a:r>
            <a:endParaRPr sz="6000" b="1" i="1" dirty="0">
              <a:solidFill>
                <a:srgbClr val="5504CC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2166" y="3279089"/>
            <a:ext cx="3244478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800" b="1" i="1" dirty="0">
                <a:solidFill>
                  <a:srgbClr val="6F76FD"/>
                </a:solidFill>
                <a:latin typeface="+mj-ea"/>
                <a:ea typeface="+mj-ea"/>
              </a:rPr>
              <a:t>AI</a:t>
            </a:r>
            <a:r>
              <a:rPr lang="zh-CN" altLang="en-US" sz="2800" b="1" i="1" dirty="0">
                <a:solidFill>
                  <a:srgbClr val="6F76FD"/>
                </a:solidFill>
                <a:latin typeface="+mj-ea"/>
                <a:ea typeface="+mj-ea"/>
              </a:rPr>
              <a:t>运动姿态评估系统</a:t>
            </a:r>
            <a:endParaRPr sz="2800" b="1" i="1" dirty="0">
              <a:solidFill>
                <a:srgbClr val="6F76FD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02798" y="3992976"/>
            <a:ext cx="540140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dirty="0" err="1">
                <a:solidFill>
                  <a:srgbClr val="A2B8F6"/>
                </a:solidFill>
                <a:latin typeface="Microsoft YaHei"/>
              </a:rPr>
              <a:t>让每一次</a:t>
            </a:r>
            <a:r>
              <a:rPr lang="zh-CN" altLang="en-US" sz="2000" b="0" i="1" dirty="0">
                <a:solidFill>
                  <a:srgbClr val="A2B8F6"/>
                </a:solidFill>
                <a:latin typeface="Microsoft YaHei"/>
              </a:rPr>
              <a:t>训</a:t>
            </a:r>
            <a:r>
              <a:rPr sz="2000" b="0" i="1" dirty="0" err="1">
                <a:solidFill>
                  <a:srgbClr val="A2B8F6"/>
                </a:solidFill>
                <a:latin typeface="Microsoft YaHei"/>
              </a:rPr>
              <a:t>练都能</a:t>
            </a:r>
            <a:r>
              <a:rPr lang="zh-CN" altLang="en-US" sz="2000" b="0" i="1" dirty="0">
                <a:solidFill>
                  <a:srgbClr val="A2B8F6"/>
                </a:solidFill>
                <a:latin typeface="Microsoft YaHei"/>
              </a:rPr>
              <a:t>被</a:t>
            </a:r>
            <a:r>
              <a:rPr sz="2000" b="0" i="1" dirty="0" err="1">
                <a:solidFill>
                  <a:srgbClr val="A2B8F6"/>
                </a:solidFill>
                <a:latin typeface="Microsoft YaHei"/>
              </a:rPr>
              <a:t>看见、被分析、被改进</a:t>
            </a:r>
            <a:endParaRPr sz="2000" b="0" i="1" dirty="0">
              <a:solidFill>
                <a:srgbClr val="A2B8F6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6384" y="6236208"/>
            <a:ext cx="45720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9C7E6"/>
                </a:solidFill>
                <a:latin typeface="Microsoft YaHei"/>
              </a:rPr>
              <a:t>团队名称 / 汇报人 /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目录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60604"/>
            <a:ext cx="566928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969204" y="1600200"/>
            <a:ext cx="21730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3385" y="1824228"/>
            <a:ext cx="62179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6C3B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3385" y="2321445"/>
            <a:ext cx="185627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团队成员介绍</a:t>
            </a:r>
            <a:endParaRPr sz="1700" b="1" dirty="0">
              <a:solidFill>
                <a:srgbClr val="11182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83326" y="1600200"/>
            <a:ext cx="20121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76334" y="1823663"/>
            <a:ext cx="62179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6C3BFF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334" y="2373680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11827"/>
                </a:solidFill>
                <a:latin typeface="Microsoft YaHei"/>
              </a:rPr>
              <a:t>项目背景</a:t>
            </a:r>
            <a:endParaRPr sz="1700" b="1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1613915"/>
            <a:ext cx="1728216" cy="14036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71916" y="1771651"/>
            <a:ext cx="62179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6C3BFF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4062" y="2362487"/>
            <a:ext cx="153888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111827"/>
                </a:solidFill>
                <a:latin typeface="Microsoft YaHei"/>
              </a:rPr>
              <a:t>技术架构解析</a:t>
            </a:r>
            <a:endParaRPr sz="1700" b="1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83875" y="4067654"/>
            <a:ext cx="180230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3234" y="4333543"/>
            <a:ext cx="62179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6C3BFF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5371" y="4692125"/>
            <a:ext cx="147931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11827"/>
                </a:solidFill>
                <a:latin typeface="Microsoft YaHei"/>
              </a:rPr>
              <a:t>项目功能与创新点</a:t>
            </a:r>
            <a:endParaRPr sz="2400" b="1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05601" y="4055462"/>
            <a:ext cx="2153263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95160" y="4334256"/>
            <a:ext cx="62179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6C3BFF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867" y="4826913"/>
            <a:ext cx="233584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 err="1">
                <a:solidFill>
                  <a:srgbClr val="111827"/>
                </a:solidFill>
                <a:latin typeface="Microsoft YaHei"/>
              </a:rPr>
              <a:t>未来发展展望</a:t>
            </a:r>
            <a:endParaRPr sz="1600" b="1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02 / 姿态棱镜课程汇报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116A0E-D1AD-9950-9BF6-5638060C62EE}"/>
              </a:ext>
            </a:extLst>
          </p:cNvPr>
          <p:cNvSpPr txBox="1"/>
          <p:nvPr/>
        </p:nvSpPr>
        <p:spPr>
          <a:xfrm>
            <a:off x="10382865" y="326824"/>
            <a:ext cx="141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1" dirty="0">
                <a:solidFill>
                  <a:srgbClr val="5504CC"/>
                </a:solidFill>
                <a:latin typeface="Microsoft YaHei"/>
              </a:rPr>
              <a:t>姿态棱镜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777240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dirty="0" err="1">
                <a:solidFill>
                  <a:srgbClr val="111827"/>
                </a:solidFill>
                <a:latin typeface="Microsoft YaHei"/>
              </a:rPr>
              <a:t>团队成员介绍</a:t>
            </a:r>
            <a:endParaRPr sz="3000" b="1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03 / 姿态棱镜课程汇报</a:t>
            </a:r>
          </a:p>
        </p:txBody>
      </p:sp>
      <p:pic>
        <p:nvPicPr>
          <p:cNvPr id="32" name="Picture 3" descr="938b2dd0fea680c4f870aa5bca309594.png">
            <a:extLst>
              <a:ext uri="{FF2B5EF4-FFF2-40B4-BE49-F238E27FC236}">
                <a16:creationId xmlns:a16="http://schemas.microsoft.com/office/drawing/2014/main" id="{6A0EE788-C87C-6C32-5389-C4FF2BA50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60604"/>
            <a:ext cx="566928" cy="566928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DA6D78EB-6729-E119-B8BA-71D29570A1FB}"/>
              </a:ext>
            </a:extLst>
          </p:cNvPr>
          <p:cNvSpPr txBox="1"/>
          <p:nvPr/>
        </p:nvSpPr>
        <p:spPr>
          <a:xfrm>
            <a:off x="10382865" y="326824"/>
            <a:ext cx="141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1" dirty="0">
                <a:solidFill>
                  <a:srgbClr val="5504CC"/>
                </a:solidFill>
                <a:latin typeface="Microsoft YaHei"/>
              </a:rPr>
              <a:t>姿态棱镜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4378C9C-DCC5-D300-924C-C7B5F99189A4}"/>
              </a:ext>
            </a:extLst>
          </p:cNvPr>
          <p:cNvSpPr txBox="1"/>
          <p:nvPr/>
        </p:nvSpPr>
        <p:spPr>
          <a:xfrm>
            <a:off x="1209367" y="4420222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黎明阳</a:t>
            </a:r>
          </a:p>
        </p:txBody>
      </p:sp>
      <p:sp>
        <p:nvSpPr>
          <p:cNvPr id="51" name="文本框 34">
            <a:extLst>
              <a:ext uri="{FF2B5EF4-FFF2-40B4-BE49-F238E27FC236}">
                <a16:creationId xmlns:a16="http://schemas.microsoft.com/office/drawing/2014/main" id="{04378C9C-DCC5-D300-924C-C7B5F99189A4}"/>
              </a:ext>
            </a:extLst>
          </p:cNvPr>
          <p:cNvSpPr txBox="1"/>
          <p:nvPr/>
        </p:nvSpPr>
        <p:spPr>
          <a:xfrm>
            <a:off x="7778359" y="4376288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/>
              <a:t>宋元含旭</a:t>
            </a:r>
          </a:p>
        </p:txBody>
      </p:sp>
      <p:sp>
        <p:nvSpPr>
          <p:cNvPr id="52" name="文本框 34">
            <a:extLst>
              <a:ext uri="{FF2B5EF4-FFF2-40B4-BE49-F238E27FC236}">
                <a16:creationId xmlns:a16="http://schemas.microsoft.com/office/drawing/2014/main" id="{04378C9C-DCC5-D300-924C-C7B5F99189A4}"/>
              </a:ext>
            </a:extLst>
          </p:cNvPr>
          <p:cNvSpPr txBox="1"/>
          <p:nvPr/>
        </p:nvSpPr>
        <p:spPr>
          <a:xfrm>
            <a:off x="5578284" y="4376288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/>
              <a:t>傅振天</a:t>
            </a:r>
          </a:p>
        </p:txBody>
      </p:sp>
      <p:sp>
        <p:nvSpPr>
          <p:cNvPr id="54" name="Rounded Rectangle 4">
            <a:extLst>
              <a:ext uri="{FF2B5EF4-FFF2-40B4-BE49-F238E27FC236}">
                <a16:creationId xmlns:a16="http://schemas.microsoft.com/office/drawing/2014/main" id="{B8429031-3BE7-D109-C604-F16131A3D253}"/>
              </a:ext>
            </a:extLst>
          </p:cNvPr>
          <p:cNvSpPr/>
          <p:nvPr/>
        </p:nvSpPr>
        <p:spPr>
          <a:xfrm>
            <a:off x="700843" y="5198364"/>
            <a:ext cx="2030458" cy="5928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0B6F5F9E-CEB0-6557-F36B-6F78B07AA9EC}"/>
              </a:ext>
            </a:extLst>
          </p:cNvPr>
          <p:cNvSpPr txBox="1"/>
          <p:nvPr/>
        </p:nvSpPr>
        <p:spPr>
          <a:xfrm>
            <a:off x="1220529" y="5349688"/>
            <a:ext cx="161253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6C3BFF"/>
                </a:solidFill>
                <a:latin typeface="Microsoft YaHei"/>
              </a:rPr>
              <a:t>界面设计</a:t>
            </a:r>
            <a:endParaRPr sz="2000" b="1" dirty="0">
              <a:solidFill>
                <a:srgbClr val="6C3BFF"/>
              </a:solidFill>
              <a:latin typeface="Microsoft YaHei"/>
            </a:endParaRPr>
          </a:p>
        </p:txBody>
      </p:sp>
      <p:sp>
        <p:nvSpPr>
          <p:cNvPr id="60" name="Rounded Rectangle 4">
            <a:extLst>
              <a:ext uri="{FF2B5EF4-FFF2-40B4-BE49-F238E27FC236}">
                <a16:creationId xmlns:a16="http://schemas.microsoft.com/office/drawing/2014/main" id="{B2B8DE8E-991F-AF48-EBB2-E50856C51922}"/>
              </a:ext>
            </a:extLst>
          </p:cNvPr>
          <p:cNvSpPr/>
          <p:nvPr/>
        </p:nvSpPr>
        <p:spPr>
          <a:xfrm>
            <a:off x="2905482" y="5198364"/>
            <a:ext cx="2030458" cy="5928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19B9AB8-82A4-8496-44A4-F82417EACB39}"/>
              </a:ext>
            </a:extLst>
          </p:cNvPr>
          <p:cNvSpPr txBox="1"/>
          <p:nvPr/>
        </p:nvSpPr>
        <p:spPr>
          <a:xfrm>
            <a:off x="3414250" y="4426382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张馨予</a:t>
            </a:r>
          </a:p>
        </p:txBody>
      </p:sp>
      <p:sp>
        <p:nvSpPr>
          <p:cNvPr id="68" name="TextBox 5">
            <a:extLst>
              <a:ext uri="{FF2B5EF4-FFF2-40B4-BE49-F238E27FC236}">
                <a16:creationId xmlns:a16="http://schemas.microsoft.com/office/drawing/2014/main" id="{486B39B3-C4C7-4BAD-0687-C3E91CAF4817}"/>
              </a:ext>
            </a:extLst>
          </p:cNvPr>
          <p:cNvSpPr txBox="1"/>
          <p:nvPr/>
        </p:nvSpPr>
        <p:spPr>
          <a:xfrm>
            <a:off x="3114442" y="5323802"/>
            <a:ext cx="161253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6C3BFF"/>
                </a:solidFill>
                <a:latin typeface="Microsoft YaHei"/>
              </a:rPr>
              <a:t>评估系统设计</a:t>
            </a:r>
            <a:endParaRPr sz="2000" b="1" dirty="0">
              <a:solidFill>
                <a:srgbClr val="6C3BFF"/>
              </a:solidFill>
              <a:latin typeface="Microsoft YaHei"/>
            </a:endParaRPr>
          </a:p>
        </p:txBody>
      </p:sp>
      <p:sp>
        <p:nvSpPr>
          <p:cNvPr id="70" name="Rounded Rectangle 4">
            <a:extLst>
              <a:ext uri="{FF2B5EF4-FFF2-40B4-BE49-F238E27FC236}">
                <a16:creationId xmlns:a16="http://schemas.microsoft.com/office/drawing/2014/main" id="{4B0F3F76-6391-67CF-A0FD-F2BD9E191E0C}"/>
              </a:ext>
            </a:extLst>
          </p:cNvPr>
          <p:cNvSpPr/>
          <p:nvPr/>
        </p:nvSpPr>
        <p:spPr>
          <a:xfrm>
            <a:off x="5080771" y="5198364"/>
            <a:ext cx="2030458" cy="5928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" name="TextBox 5">
            <a:extLst>
              <a:ext uri="{FF2B5EF4-FFF2-40B4-BE49-F238E27FC236}">
                <a16:creationId xmlns:a16="http://schemas.microsoft.com/office/drawing/2014/main" id="{1973CC94-C74A-EEDE-A036-A287073CEE36}"/>
              </a:ext>
            </a:extLst>
          </p:cNvPr>
          <p:cNvSpPr txBox="1"/>
          <p:nvPr/>
        </p:nvSpPr>
        <p:spPr>
          <a:xfrm>
            <a:off x="5423479" y="5342161"/>
            <a:ext cx="161253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6C3BFF"/>
                </a:solidFill>
                <a:latin typeface="Microsoft YaHei"/>
              </a:rPr>
              <a:t>数据库设计</a:t>
            </a:r>
            <a:endParaRPr sz="2000" b="1" dirty="0">
              <a:solidFill>
                <a:srgbClr val="6C3BFF"/>
              </a:solidFill>
              <a:latin typeface="Microsoft YaHei"/>
            </a:endParaRPr>
          </a:p>
        </p:txBody>
      </p:sp>
      <p:sp>
        <p:nvSpPr>
          <p:cNvPr id="74" name="Rounded Rectangle 4">
            <a:extLst>
              <a:ext uri="{FF2B5EF4-FFF2-40B4-BE49-F238E27FC236}">
                <a16:creationId xmlns:a16="http://schemas.microsoft.com/office/drawing/2014/main" id="{933FE79E-3AD2-28CA-8EF2-7FA1EA9C7A01}"/>
              </a:ext>
            </a:extLst>
          </p:cNvPr>
          <p:cNvSpPr/>
          <p:nvPr/>
        </p:nvSpPr>
        <p:spPr>
          <a:xfrm>
            <a:off x="7256060" y="5198364"/>
            <a:ext cx="2030458" cy="5928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6" name="TextBox 5">
            <a:extLst>
              <a:ext uri="{FF2B5EF4-FFF2-40B4-BE49-F238E27FC236}">
                <a16:creationId xmlns:a16="http://schemas.microsoft.com/office/drawing/2014/main" id="{0FBF59E3-EB7C-48F6-0F9D-A0AA179B6CF5}"/>
              </a:ext>
            </a:extLst>
          </p:cNvPr>
          <p:cNvSpPr txBox="1"/>
          <p:nvPr/>
        </p:nvSpPr>
        <p:spPr>
          <a:xfrm>
            <a:off x="7465020" y="5323802"/>
            <a:ext cx="161253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6C3BFF"/>
                </a:solidFill>
                <a:latin typeface="Microsoft YaHei"/>
              </a:rPr>
              <a:t>纠错系统设计</a:t>
            </a:r>
            <a:endParaRPr sz="2000" b="1" dirty="0">
              <a:solidFill>
                <a:srgbClr val="6C3BFF"/>
              </a:solidFill>
              <a:latin typeface="Microsoft YaHei"/>
            </a:endParaRPr>
          </a:p>
        </p:txBody>
      </p:sp>
      <p:sp>
        <p:nvSpPr>
          <p:cNvPr id="78" name="Rounded Rectangle 4">
            <a:extLst>
              <a:ext uri="{FF2B5EF4-FFF2-40B4-BE49-F238E27FC236}">
                <a16:creationId xmlns:a16="http://schemas.microsoft.com/office/drawing/2014/main" id="{EABEAC25-1F6B-DAB7-19C1-71AB8CC3A5CB}"/>
              </a:ext>
            </a:extLst>
          </p:cNvPr>
          <p:cNvSpPr/>
          <p:nvPr/>
        </p:nvSpPr>
        <p:spPr>
          <a:xfrm>
            <a:off x="9367636" y="5198364"/>
            <a:ext cx="2030458" cy="5928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0" name="TextBox 5">
            <a:extLst>
              <a:ext uri="{FF2B5EF4-FFF2-40B4-BE49-F238E27FC236}">
                <a16:creationId xmlns:a16="http://schemas.microsoft.com/office/drawing/2014/main" id="{6CB3D556-1ECC-8FEB-CECD-ACFD26C3A670}"/>
              </a:ext>
            </a:extLst>
          </p:cNvPr>
          <p:cNvSpPr txBox="1"/>
          <p:nvPr/>
        </p:nvSpPr>
        <p:spPr>
          <a:xfrm>
            <a:off x="9576596" y="5323802"/>
            <a:ext cx="161253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6C3BFF"/>
                </a:solidFill>
                <a:latin typeface="Microsoft YaHei"/>
              </a:rPr>
              <a:t>姿态检测设计</a:t>
            </a:r>
            <a:endParaRPr sz="2000" b="1" dirty="0">
              <a:solidFill>
                <a:srgbClr val="6C3BFF"/>
              </a:solidFill>
              <a:latin typeface="Microsoft YaHei"/>
            </a:endParaRPr>
          </a:p>
        </p:txBody>
      </p:sp>
      <p:sp>
        <p:nvSpPr>
          <p:cNvPr id="82" name="文本框 34">
            <a:extLst>
              <a:ext uri="{FF2B5EF4-FFF2-40B4-BE49-F238E27FC236}">
                <a16:creationId xmlns:a16="http://schemas.microsoft.com/office/drawing/2014/main" id="{60BE1A3F-9273-D30A-5EBA-E8E370030CAC}"/>
              </a:ext>
            </a:extLst>
          </p:cNvPr>
          <p:cNvSpPr txBox="1"/>
          <p:nvPr/>
        </p:nvSpPr>
        <p:spPr>
          <a:xfrm>
            <a:off x="9903405" y="4389444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/>
              <a:t>师一鸣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项目背景：运动热潮下的新问题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大家更愿意运动，但更难知道自己练得对不对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" y="2203704"/>
            <a:ext cx="26517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6C3BFF"/>
                </a:solidFill>
                <a:latin typeface="Microsoft YaHei"/>
              </a:rPr>
              <a:t>18亿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902826"/>
            <a:ext cx="2606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dirty="0" err="1">
                <a:solidFill>
                  <a:srgbClr val="111827"/>
                </a:solidFill>
                <a:latin typeface="Microsoft YaHei"/>
              </a:rPr>
              <a:t>全球约</a:t>
            </a:r>
            <a:r>
              <a:rPr sz="1300" b="1" dirty="0">
                <a:solidFill>
                  <a:srgbClr val="111827"/>
                </a:solidFill>
                <a:latin typeface="Microsoft YaHei"/>
              </a:rPr>
              <a:t> 18 </a:t>
            </a:r>
            <a:r>
              <a:rPr sz="1300" b="1" dirty="0" err="1">
                <a:solidFill>
                  <a:srgbClr val="111827"/>
                </a:solidFill>
                <a:latin typeface="Microsoft YaHei"/>
              </a:rPr>
              <a:t>亿成年人身体活动不足</a:t>
            </a:r>
            <a:endParaRPr sz="1300" b="1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" y="3450336"/>
            <a:ext cx="18288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8A2B3"/>
                </a:solidFill>
                <a:latin typeface="Microsoft YaHei"/>
              </a:rPr>
              <a:t>WHO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120130"/>
            <a:ext cx="26517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43B7FF"/>
                </a:solidFill>
                <a:latin typeface="Microsoft YaHei"/>
              </a:rPr>
              <a:t>80%+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869938"/>
            <a:ext cx="26060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icrosoft YaHei"/>
              </a:rPr>
              <a:t>全球超过 80% 青少年运动不足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446010"/>
            <a:ext cx="18288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8A2B3"/>
                </a:solidFill>
                <a:latin typeface="Microsoft YaHei"/>
              </a:rPr>
              <a:t>WHO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1052" y="2129274"/>
            <a:ext cx="265176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44D989"/>
                </a:solidFill>
                <a:latin typeface="Microsoft YaHei"/>
              </a:rPr>
              <a:t>5.5亿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7628" y="2879082"/>
            <a:ext cx="2425766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 err="1">
                <a:solidFill>
                  <a:srgbClr val="111827"/>
                </a:solidFill>
                <a:latin typeface="Microsoft YaHei"/>
              </a:rPr>
              <a:t>中国经常参加体育锻炼人数约</a:t>
            </a:r>
            <a:r>
              <a:rPr sz="1300" b="1" dirty="0">
                <a:solidFill>
                  <a:srgbClr val="111827"/>
                </a:solidFill>
                <a:latin typeface="Microsoft YaHei"/>
              </a:rPr>
              <a:t> 5.5 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7628" y="3455154"/>
            <a:ext cx="18288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8A2B3"/>
                </a:solidFill>
                <a:latin typeface="Microsoft YaHei"/>
              </a:rPr>
              <a:t>China Briefing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276088"/>
            <a:ext cx="10607040" cy="1234440"/>
          </a:xfrm>
          <a:prstGeom prst="round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641849"/>
            <a:ext cx="896112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痛点不是“不想动”，而是“不知道动作是否标准”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6089905"/>
            <a:ext cx="87782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B9C7E6"/>
                </a:solidFill>
                <a:latin typeface="Microsoft YaHei"/>
              </a:rPr>
              <a:t>普通用户缺少低成本、可复盘、能看懂的训练指导工具。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04 / 姿态棱镜课程汇报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Microsoft YaHei"/>
              </a:rPr>
              <a:t>真实场景视频：不请教练，也能看懂动作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建议把你们录制的男生使用姿态棱镜视频放在这一页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1234440"/>
            <a:ext cx="6629400" cy="4343400"/>
          </a:xfrm>
          <a:prstGeom prst="roundRect">
            <a:avLst/>
          </a:prstGeom>
          <a:solidFill>
            <a:srgbClr val="050914"/>
          </a:solidFill>
          <a:ln w="12700">
            <a:solidFill>
              <a:srgbClr val="15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78608" y="2834640"/>
            <a:ext cx="26974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放置演示视频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401568"/>
            <a:ext cx="5303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B9C7E6"/>
                </a:solidFill>
                <a:latin typeface="Microsoft YaHei"/>
              </a:rPr>
              <a:t>男生不想花钱请教练，使用 Web 端 3D 回放复盘训练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3657600" y="2148840"/>
            <a:ext cx="594360" cy="594360"/>
          </a:xfrm>
          <a:prstGeom prst="triangle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18120" y="1353312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82712" y="1554480"/>
            <a:ext cx="109728" cy="1152144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81912"/>
            <a:ext cx="2971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为什么放在背景章节？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75104"/>
            <a:ext cx="29718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视频先讲清楚真实需求，再进入系统方案：普通人想练、又担心练错，需要一个低成本的 AI 训练助手。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246120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82712" y="3447288"/>
            <a:ext cx="109728" cy="1152144"/>
          </a:xfrm>
          <a:prstGeom prst="rect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3474720"/>
            <a:ext cx="2971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讲解重点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67911"/>
            <a:ext cx="29718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强调“3D 回放做得好”：用户能回看完整训练、查看单次动作、和标准动作同屏对比。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05 / 姿态棱镜课程汇报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Microsoft YaHei"/>
              </a:rPr>
              <a:t>项目定位：每个人都能使用的 AI 运动教练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姿态棱镜 = 姿态识别 + 3D 回放 + 真实纠错 + 训练记录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pic>
        <p:nvPicPr>
          <p:cNvPr id="5" name="Picture 4" descr="home-hero-pos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005840"/>
            <a:ext cx="3657600" cy="2057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1234440"/>
            <a:ext cx="306324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7824" y="1435608"/>
            <a:ext cx="109728" cy="859536"/>
          </a:xfrm>
          <a:prstGeom prst="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463040"/>
            <a:ext cx="2468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看得见动作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856232"/>
            <a:ext cx="2468880" cy="4846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摄像头捕捉人体关键点，生成骨架数据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2232" y="1234440"/>
            <a:ext cx="306324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06824" y="1435608"/>
            <a:ext cx="109728" cy="859536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63040"/>
            <a:ext cx="2468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看得懂问题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56232"/>
            <a:ext cx="2468880" cy="4846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把专业动作问题转成易理解的建议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26080"/>
            <a:ext cx="306324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" y="3127248"/>
            <a:ext cx="109728" cy="859536"/>
          </a:xfrm>
          <a:prstGeom prst="rect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154680"/>
            <a:ext cx="2468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看得到进步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547872"/>
            <a:ext cx="2468880" cy="4846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保存训练记录、错误次数和历史表现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232" y="2926080"/>
            <a:ext cx="306324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06824" y="3127248"/>
            <a:ext cx="109728" cy="859536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3154680"/>
            <a:ext cx="2468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能复盘动作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547872"/>
            <a:ext cx="2468880" cy="4846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完整训练与单次动作都可 3D 回放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474720"/>
            <a:ext cx="3657600" cy="1234440"/>
          </a:xfrm>
          <a:prstGeom prst="round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0" y="3730752"/>
            <a:ext cx="2743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适用场景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33087"/>
            <a:ext cx="283464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B9C7E6"/>
                </a:solidFill>
                <a:latin typeface="Microsoft YaHei"/>
              </a:rPr>
              <a:t>居家健身 / 体育教学 / 康复辅助 / 健身房自助训练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06 / 姿态棱镜课程汇报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技术架构解析：从画面到建议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一条完整链路，把训练画面变成可理解的反馈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1901952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2231136"/>
            <a:ext cx="512064" cy="512064"/>
          </a:xfrm>
          <a:prstGeom prst="ellipse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2139696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icrosoft YaHei"/>
              </a:rPr>
              <a:t>小程序 / 摄像头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578608"/>
            <a:ext cx="1188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采集训练画面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24" y="2340864"/>
            <a:ext cx="4114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6C3BFF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1" y="1901952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831335" y="2231136"/>
            <a:ext cx="512064" cy="512064"/>
          </a:xfrm>
          <a:prstGeom prst="ellipse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7" y="2139696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icrosoft YaHei"/>
              </a:rPr>
              <a:t>姿态关键点识别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7" y="2578608"/>
            <a:ext cx="1188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提取人体骨架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3" y="2340864"/>
            <a:ext cx="4114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6C3BFF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1901952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11696" y="2231136"/>
            <a:ext cx="512064" cy="512064"/>
          </a:xfrm>
          <a:prstGeom prst="ellipse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33488" y="2139696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icrosoft YaHei"/>
              </a:rPr>
              <a:t>后端动作分析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578608"/>
            <a:ext cx="1188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计数、评分、纠错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340864"/>
            <a:ext cx="4114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6C3BFF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54311" y="1901952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92055" y="2231136"/>
            <a:ext cx="512064" cy="512064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13847" y="2139696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icrosoft YaHei"/>
              </a:rPr>
              <a:t>Web 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7" y="2578608"/>
            <a:ext cx="1188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3D 回放与报告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645152"/>
            <a:ext cx="10287000" cy="841248"/>
          </a:xfrm>
          <a:prstGeom prst="roundRect">
            <a:avLst/>
          </a:prstGeom>
          <a:solidFill>
            <a:srgbClr val="F6F8FF"/>
          </a:solidFill>
          <a:ln w="12700">
            <a:solidFill>
              <a:srgbClr val="E6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4956048"/>
            <a:ext cx="95097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44054"/>
                </a:solidFill>
                <a:latin typeface="Microsoft YaHei"/>
              </a:rPr>
              <a:t>用户端负责采集，后端负责分析，Web 端负责把结果变成直观的 3D 回放与报告。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07 / 姿态棱镜课程汇报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核心技术模块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少讲术语，多讲每一层解决什么问题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" y="1234440"/>
            <a:ext cx="32735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59" y="1435608"/>
            <a:ext cx="109728" cy="896112"/>
          </a:xfrm>
          <a:prstGeom prst="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463040"/>
            <a:ext cx="26791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Vue 3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856232"/>
            <a:ext cx="2679192" cy="521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Web 工作台与训练记录展示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234440"/>
            <a:ext cx="32735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90288" y="1435608"/>
            <a:ext cx="109728" cy="896112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37176" y="1463040"/>
            <a:ext cx="26791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856232"/>
            <a:ext cx="2679192" cy="521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接口服务、训练数据与报告管理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234440"/>
            <a:ext cx="32735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57616" y="1435608"/>
            <a:ext cx="109728" cy="896112"/>
          </a:xfrm>
          <a:prstGeom prst="rect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04504" y="1463040"/>
            <a:ext cx="26791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MediaPipe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4" y="1856232"/>
            <a:ext cx="2679192" cy="521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人体关键点识别与姿态提取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063240"/>
            <a:ext cx="32735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59" y="3264408"/>
            <a:ext cx="109728" cy="89611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" y="3291840"/>
            <a:ext cx="26791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Three.js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685032"/>
            <a:ext cx="2679192" cy="521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3D 骨架回放和标准动作对比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063240"/>
            <a:ext cx="32735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90288" y="3264408"/>
            <a:ext cx="109728" cy="896112"/>
          </a:xfrm>
          <a:prstGeom prst="rect">
            <a:avLst/>
          </a:prstGeom>
          <a:solidFill>
            <a:srgbClr val="FF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37176" y="3291840"/>
            <a:ext cx="26791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小程序端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6" y="3685032"/>
            <a:ext cx="2679192" cy="521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移动端采集、上传骨架数据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3063240"/>
            <a:ext cx="32735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57616" y="3264408"/>
            <a:ext cx="109728" cy="896112"/>
          </a:xfrm>
          <a:prstGeom prst="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04504" y="3291840"/>
            <a:ext cx="267919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SQLite /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504" y="3685032"/>
            <a:ext cx="2679192" cy="521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训练记录、模板与回放帧保存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08 / 姿态棱镜课程汇报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功能一：训练采集与动作识别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不用穿戴设备，只需要摄像头或小程序采集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32582"/>
            <a:ext cx="566928" cy="566928"/>
          </a:xfrm>
          <a:prstGeom prst="rect">
            <a:avLst/>
          </a:prstGeom>
        </p:spPr>
      </p:pic>
      <p:pic>
        <p:nvPicPr>
          <p:cNvPr id="5" name="Picture 4" descr="start-phone-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1828800" cy="1828800"/>
          </a:xfrm>
          <a:prstGeom prst="rect">
            <a:avLst/>
          </a:prstGeom>
        </p:spPr>
      </p:pic>
      <p:pic>
        <p:nvPicPr>
          <p:cNvPr id="6" name="Picture 5" descr="start-step-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417320"/>
            <a:ext cx="1325880" cy="1325880"/>
          </a:xfrm>
          <a:prstGeom prst="rect">
            <a:avLst/>
          </a:prstGeom>
        </p:spPr>
      </p:pic>
      <p:pic>
        <p:nvPicPr>
          <p:cNvPr id="7" name="Picture 6" descr="start-step-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417320"/>
            <a:ext cx="1325880" cy="1325880"/>
          </a:xfrm>
          <a:prstGeom prst="rect">
            <a:avLst/>
          </a:prstGeom>
        </p:spPr>
      </p:pic>
      <p:pic>
        <p:nvPicPr>
          <p:cNvPr id="8" name="Picture 7" descr="start-step-lap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417320"/>
            <a:ext cx="1325880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34640" y="2880360"/>
            <a:ext cx="14630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Microsoft YaHei"/>
              </a:rPr>
              <a:t>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14630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Microsoft YaHei"/>
              </a:rPr>
              <a:t>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14630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Microsoft YaHei"/>
              </a:rPr>
              <a:t>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20"/>
            <a:ext cx="2926080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44054"/>
                </a:solidFill>
                <a:latin typeface="Microsoft YaHei"/>
              </a:defRPr>
            </a:pPr>
            <a:r>
              <a:t>自动识别人体关键点</a:t>
            </a:r>
          </a:p>
          <a:p>
            <a:pPr>
              <a:spcAft>
                <a:spcPts val="800"/>
              </a:spcAft>
              <a:defRPr sz="1400">
                <a:solidFill>
                  <a:srgbClr val="344054"/>
                </a:solidFill>
                <a:latin typeface="Microsoft YaHei"/>
              </a:defRPr>
            </a:pPr>
            <a:r>
              <a:t>判断动作阶段并自动计数</a:t>
            </a:r>
          </a:p>
          <a:p>
            <a:pPr>
              <a:spcAft>
                <a:spcPts val="800"/>
              </a:spcAft>
              <a:defRPr sz="1400">
                <a:solidFill>
                  <a:srgbClr val="344054"/>
                </a:solidFill>
                <a:latin typeface="Microsoft YaHei"/>
              </a:defRPr>
            </a:pPr>
            <a:r>
              <a:t>保存训练过程中的骨架数据</a:t>
            </a:r>
          </a:p>
          <a:p>
            <a:pPr>
              <a:spcAft>
                <a:spcPts val="800"/>
              </a:spcAft>
              <a:defRPr sz="1400">
                <a:solidFill>
                  <a:srgbClr val="344054"/>
                </a:solidFill>
                <a:latin typeface="Microsoft YaHei"/>
              </a:defRPr>
            </a:pPr>
            <a:r>
              <a:t>为后续 3D 回放与纠错提供依据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15968"/>
            <a:ext cx="10378440" cy="987552"/>
          </a:xfrm>
          <a:prstGeom prst="roundRect">
            <a:avLst/>
          </a:prstGeom>
          <a:solidFill>
            <a:srgbClr val="F6F8FF"/>
          </a:solidFill>
          <a:ln w="12700">
            <a:solidFill>
              <a:srgbClr val="E6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6451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6C3BFF"/>
                </a:solidFill>
                <a:latin typeface="Microsoft YaHei"/>
              </a:rPr>
              <a:t>一句话：把普通训练画面转化为可以计算、可以回看的运动数据。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09 / 姿态棱镜课程汇报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Microsoft YaHei"/>
              </a:rPr>
              <a:t>功能二：Web 端 3D 动作回放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训练结束后，不只留下分数，还能回看动作过程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pic>
        <p:nvPicPr>
          <p:cNvPr id="5" name="Picture 4" descr="mock_3d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6537960" cy="3611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07008"/>
            <a:ext cx="3474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54112" y="1408176"/>
            <a:ext cx="109728" cy="676656"/>
          </a:xfrm>
          <a:prstGeom prst="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435608"/>
            <a:ext cx="2880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完整训练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828800"/>
            <a:ext cx="2880360" cy="3017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查看小程序传回来的整段骨架数据，适合观察整体节奏。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578608"/>
            <a:ext cx="3474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54112" y="2779776"/>
            <a:ext cx="109728" cy="676656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807208"/>
            <a:ext cx="2880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单次动作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200400"/>
            <a:ext cx="2880360" cy="3017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在“第 1 次、第 2 次……”之间切换，复盘每一次动作。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950208"/>
            <a:ext cx="3474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54112" y="4151376"/>
            <a:ext cx="109728" cy="676656"/>
          </a:xfrm>
          <a:prstGeom prst="rect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4178808"/>
            <a:ext cx="28803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播放控制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572000"/>
            <a:ext cx="2880360" cy="3017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支持播放、暂停、调速、进度拖动和视角切换。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10 / 姿态棱镜课程汇报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功能三：标准动作 3D 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左侧看自己，右侧看标准，差异更直观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pic>
        <p:nvPicPr>
          <p:cNvPr id="5" name="Picture 4" descr="mock_3d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15568"/>
            <a:ext cx="6492240" cy="35844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170432"/>
            <a:ext cx="3566160" cy="1005840"/>
          </a:xfrm>
          <a:prstGeom prst="round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45552" y="1417320"/>
            <a:ext cx="2743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对比价值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68880"/>
            <a:ext cx="3474720" cy="1920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44054"/>
                </a:solidFill>
                <a:latin typeface="Microsoft YaHei"/>
              </a:defRPr>
            </a:pPr>
            <a:r>
              <a:t>帮助用户理解动作幅度差异</a:t>
            </a:r>
          </a:p>
          <a:p>
            <a:pPr>
              <a:spcAft>
                <a:spcPts val="800"/>
              </a:spcAft>
              <a:defRPr sz="1250">
                <a:solidFill>
                  <a:srgbClr val="344054"/>
                </a:solidFill>
                <a:latin typeface="Microsoft YaHei"/>
              </a:defRPr>
            </a:pPr>
            <a:r>
              <a:t>减少“文字建议看不懂”的问题</a:t>
            </a:r>
          </a:p>
          <a:p>
            <a:pPr>
              <a:spcAft>
                <a:spcPts val="800"/>
              </a:spcAft>
              <a:defRPr sz="1250">
                <a:solidFill>
                  <a:srgbClr val="344054"/>
                </a:solidFill>
                <a:latin typeface="Microsoft YaHei"/>
              </a:defRPr>
            </a:pPr>
            <a:r>
              <a:t>支持单次动作切换对比</a:t>
            </a:r>
          </a:p>
          <a:p>
            <a:pPr>
              <a:spcAft>
                <a:spcPts val="800"/>
              </a:spcAft>
              <a:defRPr sz="1250">
                <a:solidFill>
                  <a:srgbClr val="344054"/>
                </a:solidFill>
                <a:latin typeface="Microsoft YaHei"/>
              </a:defRPr>
            </a:pPr>
            <a:r>
              <a:t>适合课堂演示和训练复盘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11 / 姿态棱镜课程汇报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功能四：真实纠错与训练记录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只展示后端真实返回的问题，不使用静态假提示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1435608"/>
            <a:ext cx="109728" cy="832104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2788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真实问题接入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56232"/>
            <a:ext cx="27889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右侧纠错只读取 rep.issues：没有真实 issue 就不显示该次数。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53712" y="1435608"/>
            <a:ext cx="109728" cy="832104"/>
          </a:xfrm>
          <a:prstGeom prst="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463040"/>
            <a:ext cx="2788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单次状态动态化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56232"/>
            <a:ext cx="27889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下面卡片的“正常/需调整”也由真实问题决定，不再只看分数。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11312" y="1435608"/>
            <a:ext cx="109728" cy="832104"/>
          </a:xfrm>
          <a:prstGeom prst="rect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463040"/>
            <a:ext cx="2788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历史复盘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56232"/>
            <a:ext cx="27889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训练记录保存完整骨架、次数、评分与问题，方便后续查看。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63240"/>
            <a:ext cx="10241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61872" y="3401568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Microsoft YaHei"/>
              </a:rPr>
              <a:t>页面效果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877056"/>
            <a:ext cx="896112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344054"/>
                </a:solidFill>
                <a:latin typeface="Microsoft YaHei"/>
              </a:rPr>
              <a:t>有真实 issue：显示“需调整”和对应建议；无真实 issue：显示“正常”，右侧不造假纠错卡片。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12 / 姿态棱镜课程汇报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项目功能与创新点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低成本、可复盘、可理解，是姿态棱镜的核心体验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1435608"/>
            <a:ext cx="109728" cy="768096"/>
          </a:xfrm>
          <a:prstGeom prst="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无需穿戴设备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56232"/>
            <a:ext cx="2651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普通摄像头即可完成动作捕捉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99431" y="1435608"/>
            <a:ext cx="109728" cy="768096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463040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3D 回放复盘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56232"/>
            <a:ext cx="2651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完整训练和单次动作都能回看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02752" y="1435608"/>
            <a:ext cx="109728" cy="768096"/>
          </a:xfrm>
          <a:prstGeom prst="rect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463040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标准动作对比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56232"/>
            <a:ext cx="2651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让动作差异直接可见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" y="3127248"/>
            <a:ext cx="109728" cy="768096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154680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多端联动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47872"/>
            <a:ext cx="2651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小程序采集，Web 端展示分析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92608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99431" y="3127248"/>
            <a:ext cx="109728" cy="768096"/>
          </a:xfrm>
          <a:prstGeom prst="rect">
            <a:avLst/>
          </a:prstGeom>
          <a:solidFill>
            <a:srgbClr val="FF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3154680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真实数据驱动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47872"/>
            <a:ext cx="2651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纠错提示来自后端分析结果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926080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02752" y="3127248"/>
            <a:ext cx="109728" cy="768096"/>
          </a:xfrm>
          <a:prstGeom prst="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3154680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大众友好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547872"/>
            <a:ext cx="2651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尽量把专业动作问题翻译成易懂建议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13 / 姿态棱镜课程汇报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项目价值：让专业指导更普惠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不同群体都能从系统中获得清晰反馈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" y="1481328"/>
            <a:ext cx="109728" cy="832104"/>
          </a:xfrm>
          <a:prstGeom prst="rect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08760"/>
            <a:ext cx="42062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普通用户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01952"/>
            <a:ext cx="42062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降低居家运动风险，知道自己练得对不对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36792" y="1481328"/>
            <a:ext cx="109728" cy="832104"/>
          </a:xfrm>
          <a:prstGeom prst="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08760"/>
            <a:ext cx="42062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体育老师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01952"/>
            <a:ext cx="42062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快速查看学生动作问题，提升教学效率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" y="3310128"/>
            <a:ext cx="109728" cy="832104"/>
          </a:xfrm>
          <a:prstGeom prst="rect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337560"/>
            <a:ext cx="42062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健身教练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30752"/>
            <a:ext cx="42062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辅助复盘训练表现，减少重复讲解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0896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36792" y="3310128"/>
            <a:ext cx="109728" cy="832104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337560"/>
            <a:ext cx="42062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平台方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30752"/>
            <a:ext cx="42062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667085"/>
                </a:solidFill>
                <a:latin typeface="Microsoft YaHei"/>
              </a:rPr>
              <a:t>沉淀运动数据，扩展个性化训练服务</a:t>
            </a:r>
          </a:p>
        </p:txBody>
      </p:sp>
      <p:pic>
        <p:nvPicPr>
          <p:cNvPr id="21" name="Picture 20" descr="dashboard-select-co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63440"/>
            <a:ext cx="2651760" cy="1234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14 / 姿态棱镜课程汇报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  <a:latin typeface="Microsoft YaHei"/>
              </a:rPr>
              <a:t>未来发展展望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5895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67085"/>
                </a:solidFill>
                <a:latin typeface="Microsoft YaHei"/>
              </a:rPr>
              <a:t>从动作识别工具，走向个人 AI 运动教练</a:t>
            </a:r>
          </a:p>
        </p:txBody>
      </p:sp>
      <p:pic>
        <p:nvPicPr>
          <p:cNvPr id="4" name="Picture 3" descr="938b2dd0fea680c4f870aa5bca309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56032"/>
            <a:ext cx="566928" cy="566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68680" y="1508760"/>
            <a:ext cx="3154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88719" y="1828800"/>
            <a:ext cx="1097280" cy="347472"/>
          </a:xfrm>
          <a:prstGeom prst="roundRect">
            <a:avLst/>
          </a:prstGeom>
          <a:solidFill>
            <a:srgbClr val="4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19" y="1911095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近期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514600"/>
            <a:ext cx="2514600" cy="1280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icrosoft YaHei"/>
              </a:rPr>
              <a:t>支持更多动作
完善真实纠错文案
优化 3D 对比体验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508760"/>
            <a:ext cx="3154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83480" y="1828800"/>
            <a:ext cx="1097280" cy="347472"/>
          </a:xfrm>
          <a:prstGeom prst="roundRect">
            <a:avLst/>
          </a:prstGeom>
          <a:solidFill>
            <a:srgbClr val="6C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911095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中期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14600"/>
            <a:ext cx="2514600" cy="1280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icrosoft YaHei"/>
              </a:rPr>
              <a:t>训练报告自动生成
个性化训练计划
接入更多健康数据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508760"/>
            <a:ext cx="3154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78240" y="1828800"/>
            <a:ext cx="1097280" cy="347472"/>
          </a:xfrm>
          <a:prstGeom prst="roundRect">
            <a:avLst/>
          </a:prstGeom>
          <a:solidFill>
            <a:srgbClr val="44D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1911095"/>
            <a:ext cx="10972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长期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14600"/>
            <a:ext cx="2514600" cy="1280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icrosoft YaHei"/>
              </a:rPr>
              <a:t>学校体育与健身房场景
AI 私教式陪伴
多人训练数据管理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230368"/>
            <a:ext cx="96926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6C3BFF"/>
                </a:solidFill>
                <a:latin typeface="Microsoft YaHei"/>
              </a:rPr>
              <a:t>目标：让每个人都能用更低成本获得更科学、更安全的运动指导。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6510528"/>
            <a:ext cx="1828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98A2B3"/>
                </a:solidFill>
                <a:latin typeface="Microsoft YaHei"/>
              </a:rPr>
              <a:t>15 / 姿态棱镜课程汇报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938b2dd0fea680c4f870aa5bca3095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66928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627632"/>
            <a:ext cx="420624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31720"/>
            <a:ext cx="6400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D7E8FF"/>
                </a:solidFill>
                <a:latin typeface="Microsoft YaHei"/>
              </a:rPr>
              <a:t>姿态棱镜：让运动更科学，让每个人都能安全地练起来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86200"/>
            <a:ext cx="10607040" cy="1417320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8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数据来源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4160520"/>
            <a:ext cx="845820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9C7E6"/>
                </a:solidFill>
                <a:latin typeface="Microsoft YaHei"/>
              </a:rPr>
              <a:t>WHO 2024 身体活动不足报告；WHO 2022 全球身体活动状况报告；China Briefing 体育健身行业数据；ACSM 健身趋势报告。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82312"/>
            <a:ext cx="87782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3B7FF"/>
                </a:solidFill>
                <a:latin typeface="Microsoft YaHei"/>
              </a:rPr>
              <a:t>演示建议：最后切到系统实机页面，展示 3D 回放与标准动作对比。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531</Words>
  <Application>Microsoft Office PowerPoint</Application>
  <PresentationFormat>宽屏</PresentationFormat>
  <Paragraphs>176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姿态棱镜课程项目汇报</dc:title>
  <dc:subject>AI 运动姿态评估与纠错系统</dc:subject>
  <dc:creator>姿态棱镜项目组</dc:creator>
  <cp:keywords/>
  <dc:description>generated using python-pptx</dc:description>
  <cp:lastModifiedBy>Idelle Earthy</cp:lastModifiedBy>
  <cp:revision>2</cp:revision>
  <dcterms:created xsi:type="dcterms:W3CDTF">2013-01-27T09:14:16Z</dcterms:created>
  <dcterms:modified xsi:type="dcterms:W3CDTF">2026-07-09T10:11:21Z</dcterms:modified>
  <cp:category/>
</cp:coreProperties>
</file>